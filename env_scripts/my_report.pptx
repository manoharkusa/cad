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PnR QoR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Design: ssoc_csi2_1p3_cphy_1lane_sys_top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Tool Version: T-2022.03-SP2-1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062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Report Date: Wed Feb  4 17:11:08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/>
            </a:pPr>
            <a:r>
              <a:t>Generated: 2026-03-13 11:20:43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Executive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9601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  <a:gridCol w="2286000"/>
                <a:gridCol w="2286000"/>
              </a:tblGrid>
              <a:tr h="6096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Placement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CTS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Routing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WNS (ns)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0000"/>
                          </a:solidFill>
                        </a:defRPr>
                      </a:pPr>
                      <a:r>
                        <a:t>-0.172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0000"/>
                          </a:solidFill>
                        </a:defRPr>
                      </a:pPr>
                      <a:r>
                        <a:t>-0.786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0000"/>
                          </a:solidFill>
                        </a:defRPr>
                      </a:pPr>
                      <a:r>
                        <a:t>-0.623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TNS (ns)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0000"/>
                          </a:solidFill>
                        </a:defRPr>
                      </a:pPr>
                      <a:r>
                        <a:t>-1.917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0000"/>
                          </a:solidFill>
                        </a:defRPr>
                      </a:pPr>
                      <a:r>
                        <a:t>-68.464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0000"/>
                          </a:solidFill>
                        </a:defRPr>
                      </a:pPr>
                      <a:r>
                        <a:t>-17.625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Violations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193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DRC Violations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28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Utilization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0.335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0.425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0.430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Placement Stage Details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029200" cy="1828800"/>
          </a:xfrm>
          <a:prstGeom prst="roundRect">
            <a:avLst/>
          </a:prstGeom>
          <a:solidFill>
            <a:srgbClr val="F0F8FF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699"/>
                </a:solidFill>
              </a:defRPr>
            </a:pPr>
            <a:r>
              <a:t>Timing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Timing QoR:</a:t>
            </a:r>
            <a:br/>
            <a:r>
              <a:t>  WNS: -0.171638 ns</a:t>
            </a:r>
            <a:br/>
            <a:r>
              <a:t>  TNS: -1.917389 ns</a:t>
            </a:r>
            <a:br/>
            <a:r>
              <a:t>  Violating Paths: 45</a:t>
            </a:r>
            <a:br/>
            <a:r>
              <a:t>  Worst Group: **in2reg_default**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474720"/>
            <a:ext cx="5029200" cy="1645920"/>
          </a:xfrm>
          <a:prstGeom prst="roundRect">
            <a:avLst/>
          </a:prstGeom>
          <a:solidFill>
            <a:srgbClr val="F0F8FF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52044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699"/>
                </a:solidFill>
              </a:defRPr>
            </a:pPr>
            <a:r>
              <a:t>DRC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9476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Design Rules:</a:t>
            </a:r>
            <a:br/>
            <a:r>
              <a:t>  Total Nets: 68299</a:t>
            </a:r>
            <a:br/>
            <a:r>
              <a:t>  Nets with Violations: 5</a:t>
            </a:r>
            <a:br/>
            <a:r>
              <a:t>  Max Trans Violations: 5</a:t>
            </a:r>
            <a:br/>
            <a:r>
              <a:t>  Max Cap Violations: 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371600"/>
            <a:ext cx="5029200" cy="2011680"/>
          </a:xfrm>
          <a:prstGeom prst="roundRect">
            <a:avLst/>
          </a:prstGeom>
          <a:solidFill>
            <a:srgbClr val="F0F8FF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141732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699"/>
                </a:solidFill>
              </a:defRPr>
            </a:pPr>
            <a:r>
              <a:t>Cells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69164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Cell Counts:</a:t>
            </a:r>
            <a:br/>
            <a:r>
              <a:t>  Leaf Cells: 66047</a:t>
            </a:r>
            <a:br/>
            <a:r>
              <a:t>  Combinational: 48574</a:t>
            </a:r>
            <a:br/>
            <a:r>
              <a:t>  Sequential: 17473</a:t>
            </a:r>
            <a:br/>
            <a:r>
              <a:t>  Buf/Inv: 16153</a:t>
            </a:r>
            <a:br/>
            <a:r>
              <a:t>  Macros: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3657600"/>
            <a:ext cx="5029200" cy="1645920"/>
          </a:xfrm>
          <a:prstGeom prst="roundRect">
            <a:avLst/>
          </a:prstGeom>
          <a:solidFill>
            <a:srgbClr val="F0F8FF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370332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699"/>
                </a:solidFill>
              </a:defRPr>
            </a:pPr>
            <a:r>
              <a:t>Area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397764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Area (um²):</a:t>
            </a:r>
            <a:br/>
            <a:r>
              <a:t>  Combinational: 52,743.20</a:t>
            </a:r>
            <a:br/>
            <a:r>
              <a:t>  Non-combinational: 74,869.53</a:t>
            </a:r>
            <a:br/>
            <a:r>
              <a:t>  Macro/Black Box: 471,905.28</a:t>
            </a:r>
            <a:br/>
            <a:r>
              <a:t>  Total Cell Area: 599,518.01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486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Utilization Ratio: 33.50%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CTS Stage Details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029200" cy="1828800"/>
          </a:xfrm>
          <a:prstGeom prst="roundRect">
            <a:avLst/>
          </a:prstGeom>
          <a:solidFill>
            <a:srgbClr val="F0F8FF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699"/>
                </a:solidFill>
              </a:defRPr>
            </a:pPr>
            <a:r>
              <a:t>Timing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Timing QoR:</a:t>
            </a:r>
            <a:br/>
            <a:r>
              <a:t>  WNS: -0.786348 ns</a:t>
            </a:r>
            <a:br/>
            <a:r>
              <a:t>  TNS: -68.464005 ns</a:t>
            </a:r>
            <a:br/>
            <a:r>
              <a:t>  Violating Paths: 244</a:t>
            </a:r>
            <a:br/>
            <a:r>
              <a:t>  Worst Group: **in2reg_default**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474720"/>
            <a:ext cx="5029200" cy="1645920"/>
          </a:xfrm>
          <a:prstGeom prst="roundRect">
            <a:avLst/>
          </a:prstGeom>
          <a:solidFill>
            <a:srgbClr val="F0F8FF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52044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699"/>
                </a:solidFill>
              </a:defRPr>
            </a:pPr>
            <a:r>
              <a:t>DRC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9476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Design Rules:</a:t>
            </a:r>
            <a:br/>
            <a:r>
              <a:t>  Total Nets: 88889</a:t>
            </a:r>
            <a:br/>
            <a:r>
              <a:t>  Nets with Violations: 16</a:t>
            </a:r>
            <a:br/>
            <a:r>
              <a:t>  Max Trans Violations: 10</a:t>
            </a:r>
            <a:br/>
            <a:r>
              <a:t>  Max Cap Violations: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371600"/>
            <a:ext cx="5029200" cy="2011680"/>
          </a:xfrm>
          <a:prstGeom prst="roundRect">
            <a:avLst/>
          </a:prstGeom>
          <a:solidFill>
            <a:srgbClr val="F0F8FF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141732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699"/>
                </a:solidFill>
              </a:defRPr>
            </a:pPr>
            <a:r>
              <a:t>Cells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69164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Cell Counts:</a:t>
            </a:r>
            <a:br/>
            <a:r>
              <a:t>  Leaf Cells: 83600</a:t>
            </a:r>
            <a:br/>
            <a:r>
              <a:t>  Combinational: 66127</a:t>
            </a:r>
            <a:br/>
            <a:r>
              <a:t>  Sequential: 17473</a:t>
            </a:r>
            <a:br/>
            <a:r>
              <a:t>  Buf/Inv: 32579</a:t>
            </a:r>
            <a:br/>
            <a:r>
              <a:t>  Macros: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3657600"/>
            <a:ext cx="5029200" cy="1645920"/>
          </a:xfrm>
          <a:prstGeom prst="roundRect">
            <a:avLst/>
          </a:prstGeom>
          <a:solidFill>
            <a:srgbClr val="F0F8FF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370332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699"/>
                </a:solidFill>
              </a:defRPr>
            </a:pPr>
            <a:r>
              <a:t>Area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397764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Area (um²):</a:t>
            </a:r>
            <a:br/>
            <a:r>
              <a:t>  Combinational: 87,207.51</a:t>
            </a:r>
            <a:br/>
            <a:r>
              <a:t>  Non-combinational: 74,908.45</a:t>
            </a:r>
            <a:br/>
            <a:r>
              <a:t>  Macro/Black Box: 471,905.28</a:t>
            </a:r>
            <a:br/>
            <a:r>
              <a:t>  Total Cell Area: 634,021.24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486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Utilization Ratio: 42.55%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Routing Stage Details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029200" cy="1828800"/>
          </a:xfrm>
          <a:prstGeom prst="roundRect">
            <a:avLst/>
          </a:prstGeom>
          <a:solidFill>
            <a:srgbClr val="F0F8FF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699"/>
                </a:solidFill>
              </a:defRPr>
            </a:pPr>
            <a:r>
              <a:t>Timing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Timing QoR:</a:t>
            </a:r>
            <a:br/>
            <a:r>
              <a:t>  WNS: -0.622696 ns</a:t>
            </a:r>
            <a:br/>
            <a:r>
              <a:t>  TNS: -17.624776999999998 ns</a:t>
            </a:r>
            <a:br/>
            <a:r>
              <a:t>  Violating Paths: 193</a:t>
            </a:r>
            <a:br/>
            <a:r>
              <a:t>  Worst Group: cphy_internal_rx_word_clk_mux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474720"/>
            <a:ext cx="5029200" cy="1645920"/>
          </a:xfrm>
          <a:prstGeom prst="roundRect">
            <a:avLst/>
          </a:prstGeom>
          <a:solidFill>
            <a:srgbClr val="F0F8FF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52044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699"/>
                </a:solidFill>
              </a:defRPr>
            </a:pPr>
            <a:r>
              <a:t>DRC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9476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Design Rules:</a:t>
            </a:r>
            <a:br/>
            <a:r>
              <a:t>  Total Nets: 89861</a:t>
            </a:r>
            <a:br/>
            <a:r>
              <a:t>  Nets with Violations: 28</a:t>
            </a:r>
            <a:br/>
            <a:r>
              <a:t>  Max Trans Violations: 19</a:t>
            </a:r>
            <a:br/>
            <a:r>
              <a:t>  Max Cap Violations: 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371600"/>
            <a:ext cx="5029200" cy="2011680"/>
          </a:xfrm>
          <a:prstGeom prst="roundRect">
            <a:avLst/>
          </a:prstGeom>
          <a:solidFill>
            <a:srgbClr val="F0F8FF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141732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699"/>
                </a:solidFill>
              </a:defRPr>
            </a:pPr>
            <a:r>
              <a:t>Cells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69164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Cell Counts:</a:t>
            </a:r>
            <a:br/>
            <a:r>
              <a:t>  Leaf Cells: 84572</a:t>
            </a:r>
            <a:br/>
            <a:r>
              <a:t>  Combinational: 67099</a:t>
            </a:r>
            <a:br/>
            <a:r>
              <a:t>  Sequential: 17473</a:t>
            </a:r>
            <a:br/>
            <a:r>
              <a:t>  Buf/Inv: 33551</a:t>
            </a:r>
            <a:br/>
            <a:r>
              <a:t>  Macros: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3657600"/>
            <a:ext cx="5029200" cy="1645920"/>
          </a:xfrm>
          <a:prstGeom prst="roundRect">
            <a:avLst/>
          </a:prstGeom>
          <a:solidFill>
            <a:srgbClr val="F0F8FF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370332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699"/>
                </a:solidFill>
              </a:defRPr>
            </a:pPr>
            <a:r>
              <a:t>Area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397764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Area (um²):</a:t>
            </a:r>
            <a:br/>
            <a:r>
              <a:t>  Combinational: 88,887.04</a:t>
            </a:r>
            <a:br/>
            <a:r>
              <a:t>  Non-combinational: 74,920.55</a:t>
            </a:r>
            <a:br/>
            <a:r>
              <a:t>  Macro/Black Box: 471,905.28</a:t>
            </a:r>
            <a:br/>
            <a:r>
              <a:t>  Total Cell Area: 635,712.87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486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Utilization Ratio: 43.00%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Stage-wise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10058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Stage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WNS (ns)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TNS (ns)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Violations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Placement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0000"/>
                          </a:solidFill>
                        </a:defRPr>
                      </a:pPr>
                      <a:r>
                        <a:t>-0.171638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0000"/>
                          </a:solidFill>
                        </a:defRPr>
                      </a:pPr>
                      <a:r>
                        <a:t>-1.917389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0000"/>
                          </a:solidFill>
                        </a:defRPr>
                      </a:pPr>
                      <a:r>
                        <a:t>-0.786348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0000"/>
                          </a:solidFill>
                        </a:defRPr>
                      </a:pPr>
                      <a:r>
                        <a:t>-68.464005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Routing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0000"/>
                          </a:solidFill>
                        </a:defRPr>
                      </a:pPr>
                      <a:r>
                        <a:t>-0.622696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0000"/>
                          </a:solidFill>
                        </a:defRPr>
                      </a:pPr>
                      <a:r>
                        <a:t>-17.624776999999998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4572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/>
            </a:pPr>
            <a:r>
              <a:t>Notes:</a:t>
            </a:r>
          </a:p>
          <a:p>
            <a:pPr>
              <a:defRPr sz="1200"/>
            </a:pPr>
            <a:r>
              <a:t>- WNS (Worst Negative Slack): Negative values indicate timing violations</a:t>
            </a:r>
          </a:p>
          <a:p>
            <a:pPr>
              <a:defRPr sz="1200"/>
            </a:pPr>
            <a:r>
              <a:t>- TNS (Total Negative Slack): Sum of all negative slacks</a:t>
            </a:r>
          </a:p>
          <a:p>
            <a:pPr>
              <a:defRPr sz="1200"/>
            </a:pPr>
            <a:r>
              <a:t>- Green = Pass (positive slack), Red = Fail (negative slack)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